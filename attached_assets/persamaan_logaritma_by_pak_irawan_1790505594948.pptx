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349" r:id="rId2"/>
    <p:sldId id="294" r:id="rId3"/>
    <p:sldId id="272" r:id="rId4"/>
    <p:sldId id="295" r:id="rId5"/>
    <p:sldId id="274" r:id="rId6"/>
    <p:sldId id="275" r:id="rId7"/>
    <p:sldId id="276" r:id="rId8"/>
    <p:sldId id="297" r:id="rId9"/>
    <p:sldId id="279" r:id="rId10"/>
    <p:sldId id="350" r:id="rId11"/>
    <p:sldId id="296" r:id="rId12"/>
    <p:sldId id="281" r:id="rId13"/>
    <p:sldId id="282" r:id="rId14"/>
    <p:sldId id="298" r:id="rId15"/>
    <p:sldId id="283" r:id="rId16"/>
    <p:sldId id="284" r:id="rId17"/>
    <p:sldId id="285" r:id="rId18"/>
    <p:sldId id="270" r:id="rId19"/>
    <p:sldId id="351" r:id="rId20"/>
    <p:sldId id="354" r:id="rId21"/>
    <p:sldId id="352" r:id="rId22"/>
    <p:sldId id="353" r:id="rId23"/>
    <p:sldId id="356" r:id="rId24"/>
    <p:sldId id="35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9B201"/>
    <a:srgbClr val="FFFFCC"/>
    <a:srgbClr val="FF006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65" d="100"/>
          <a:sy n="65" d="100"/>
        </p:scale>
        <p:origin x="14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82E9D-4E45-4F9D-B715-17D83C8EF1C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5A9DB-819F-4A03-8E90-A7897EFB60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E6FB-00B6-42F0-B703-F3DAB3E4A32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F2EA4095-6165-42ED-9800-BE822EE08CC2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8E401B3-A3B8-4984-944F-5170E376CC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8.gif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7.png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6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12087"/>
            <a:ext cx="9144000" cy="6946288"/>
            <a:chOff x="-22303" y="115058"/>
            <a:chExt cx="9182069" cy="7256987"/>
          </a:xfrm>
        </p:grpSpPr>
        <p:sp>
          <p:nvSpPr>
            <p:cNvPr id="16" name="Freeform 15"/>
            <p:cNvSpPr/>
            <p:nvPr/>
          </p:nvSpPr>
          <p:spPr>
            <a:xfrm rot="16200000" flipH="1" flipV="1">
              <a:off x="5820936" y="2456815"/>
              <a:ext cx="5664821" cy="981307"/>
            </a:xfrm>
            <a:custGeom>
              <a:avLst/>
              <a:gdLst>
                <a:gd name="connsiteX0" fmla="*/ 0 w 5664820"/>
                <a:gd name="connsiteY0" fmla="*/ 0 h 981307"/>
                <a:gd name="connsiteX1" fmla="*/ 5664820 w 5664820"/>
                <a:gd name="connsiteY1" fmla="*/ 0 h 981307"/>
                <a:gd name="connsiteX2" fmla="*/ 22303 w 5664820"/>
                <a:gd name="connsiteY2" fmla="*/ 981307 h 981307"/>
                <a:gd name="connsiteX3" fmla="*/ 0 w 5664820"/>
                <a:gd name="connsiteY3" fmla="*/ 0 h 98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820" h="981307">
                  <a:moveTo>
                    <a:pt x="0" y="0"/>
                  </a:moveTo>
                  <a:lnTo>
                    <a:pt x="5664820" y="0"/>
                  </a:lnTo>
                  <a:lnTo>
                    <a:pt x="22303" y="9813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3" name="Group 6"/>
            <p:cNvGrpSpPr/>
            <p:nvPr/>
          </p:nvGrpSpPr>
          <p:grpSpPr>
            <a:xfrm>
              <a:off x="-22303" y="127686"/>
              <a:ext cx="9182069" cy="7244359"/>
              <a:chOff x="-22303" y="127686"/>
              <a:chExt cx="9182069" cy="7244359"/>
            </a:xfrm>
          </p:grpSpPr>
          <p:sp>
            <p:nvSpPr>
              <p:cNvPr id="2" name="Freeform 1"/>
              <p:cNvSpPr/>
              <p:nvPr/>
            </p:nvSpPr>
            <p:spPr>
              <a:xfrm>
                <a:off x="-22303" y="127686"/>
                <a:ext cx="5664820" cy="981307"/>
              </a:xfrm>
              <a:custGeom>
                <a:avLst/>
                <a:gdLst>
                  <a:gd name="connsiteX0" fmla="*/ 0 w 5664820"/>
                  <a:gd name="connsiteY0" fmla="*/ 0 h 981307"/>
                  <a:gd name="connsiteX1" fmla="*/ 5664820 w 5664820"/>
                  <a:gd name="connsiteY1" fmla="*/ 0 h 981307"/>
                  <a:gd name="connsiteX2" fmla="*/ 22303 w 5664820"/>
                  <a:gd name="connsiteY2" fmla="*/ 981307 h 981307"/>
                  <a:gd name="connsiteX3" fmla="*/ 0 w 5664820"/>
                  <a:gd name="connsiteY3" fmla="*/ 0 h 981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4820" h="981307">
                    <a:moveTo>
                      <a:pt x="0" y="0"/>
                    </a:moveTo>
                    <a:lnTo>
                      <a:pt x="5664820" y="0"/>
                    </a:lnTo>
                    <a:lnTo>
                      <a:pt x="22303" y="9813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4" name="Freeform 3"/>
              <p:cNvSpPr/>
              <p:nvPr/>
            </p:nvSpPr>
            <p:spPr>
              <a:xfrm flipH="1" flipV="1">
                <a:off x="3494946" y="6304303"/>
                <a:ext cx="5664820" cy="981307"/>
              </a:xfrm>
              <a:custGeom>
                <a:avLst/>
                <a:gdLst>
                  <a:gd name="connsiteX0" fmla="*/ 0 w 5664820"/>
                  <a:gd name="connsiteY0" fmla="*/ 0 h 981307"/>
                  <a:gd name="connsiteX1" fmla="*/ 5664820 w 5664820"/>
                  <a:gd name="connsiteY1" fmla="*/ 0 h 981307"/>
                  <a:gd name="connsiteX2" fmla="*/ 22303 w 5664820"/>
                  <a:gd name="connsiteY2" fmla="*/ 981307 h 981307"/>
                  <a:gd name="connsiteX3" fmla="*/ 0 w 5664820"/>
                  <a:gd name="connsiteY3" fmla="*/ 0 h 981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4820" h="981307">
                    <a:moveTo>
                      <a:pt x="0" y="0"/>
                    </a:moveTo>
                    <a:lnTo>
                      <a:pt x="5664820" y="0"/>
                    </a:lnTo>
                    <a:lnTo>
                      <a:pt x="22303" y="9813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6" name="Freeform 5"/>
              <p:cNvSpPr/>
              <p:nvPr/>
            </p:nvSpPr>
            <p:spPr>
              <a:xfrm rot="16200000">
                <a:off x="-2347150" y="4048981"/>
                <a:ext cx="5664820" cy="981307"/>
              </a:xfrm>
              <a:custGeom>
                <a:avLst/>
                <a:gdLst>
                  <a:gd name="connsiteX0" fmla="*/ 0 w 5664820"/>
                  <a:gd name="connsiteY0" fmla="*/ 0 h 981307"/>
                  <a:gd name="connsiteX1" fmla="*/ 5664820 w 5664820"/>
                  <a:gd name="connsiteY1" fmla="*/ 0 h 981307"/>
                  <a:gd name="connsiteX2" fmla="*/ 22303 w 5664820"/>
                  <a:gd name="connsiteY2" fmla="*/ 981307 h 981307"/>
                  <a:gd name="connsiteX3" fmla="*/ 0 w 5664820"/>
                  <a:gd name="connsiteY3" fmla="*/ 0 h 981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4820" h="981307">
                    <a:moveTo>
                      <a:pt x="0" y="0"/>
                    </a:moveTo>
                    <a:lnTo>
                      <a:pt x="5664820" y="0"/>
                    </a:lnTo>
                    <a:lnTo>
                      <a:pt x="22303" y="9813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47507" y="3756099"/>
              <a:ext cx="3857652" cy="31313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561101" y="1530460"/>
              <a:ext cx="3286148" cy="279429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0" name="直角三角形 28">
            <a:extLst>
              <a:ext uri="{FF2B5EF4-FFF2-40B4-BE49-F238E27FC236}">
                <a16:creationId xmlns:a16="http://schemas.microsoft.com/office/drawing/2014/main" id="{6A0DF2C0-F25A-4840-A60B-7A025992F13E}"/>
              </a:ext>
            </a:extLst>
          </p:cNvPr>
          <p:cNvSpPr/>
          <p:nvPr/>
        </p:nvSpPr>
        <p:spPr>
          <a:xfrm rot="2700000">
            <a:off x="507691" y="1221602"/>
            <a:ext cx="1115369" cy="1115369"/>
          </a:xfrm>
          <a:prstGeom prst="rtTriangle">
            <a:avLst/>
          </a:prstGeom>
          <a:solidFill>
            <a:schemeClr val="tx1"/>
          </a:solidFill>
          <a:ln w="25400" cap="flat" cmpd="sng" algn="ctr"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kumimoji="1" lang="ja-JP" altLang="en-US" kern="0" dirty="0">
              <a:solidFill>
                <a:srgbClr val="5BB8D1"/>
              </a:solidFill>
              <a:latin typeface="Open Sans"/>
            </a:endParaRPr>
          </a:p>
        </p:txBody>
      </p:sp>
      <p:sp>
        <p:nvSpPr>
          <p:cNvPr id="21" name="直角三角形 8">
            <a:extLst>
              <a:ext uri="{FF2B5EF4-FFF2-40B4-BE49-F238E27FC236}">
                <a16:creationId xmlns:a16="http://schemas.microsoft.com/office/drawing/2014/main" id="{6141022B-743E-4C94-8B65-11900D845E8F}"/>
              </a:ext>
            </a:extLst>
          </p:cNvPr>
          <p:cNvSpPr/>
          <p:nvPr/>
        </p:nvSpPr>
        <p:spPr>
          <a:xfrm rot="2700000">
            <a:off x="674776" y="1221610"/>
            <a:ext cx="1115369" cy="1115369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kumimoji="1" lang="ja-JP" altLang="en-US" kern="0" dirty="0">
              <a:solidFill>
                <a:srgbClr val="5BB8D1"/>
              </a:solidFill>
              <a:latin typeface="Open Sans"/>
            </a:endParaRPr>
          </a:p>
        </p:txBody>
      </p:sp>
      <p:sp>
        <p:nvSpPr>
          <p:cNvPr id="22" name="直角三角形 4">
            <a:extLst>
              <a:ext uri="{FF2B5EF4-FFF2-40B4-BE49-F238E27FC236}">
                <a16:creationId xmlns:a16="http://schemas.microsoft.com/office/drawing/2014/main" id="{9E4857F8-E663-4546-961F-AECE958C23F5}"/>
              </a:ext>
            </a:extLst>
          </p:cNvPr>
          <p:cNvSpPr/>
          <p:nvPr/>
        </p:nvSpPr>
        <p:spPr>
          <a:xfrm rot="13500000">
            <a:off x="674776" y="1221610"/>
            <a:ext cx="1115369" cy="1115369"/>
          </a:xfrm>
          <a:prstGeom prst="rtTriangle">
            <a:avLst/>
          </a:prstGeom>
          <a:solidFill>
            <a:schemeClr val="tx2"/>
          </a:solidFill>
          <a:ln w="25400" cap="flat" cmpd="sng" algn="ctr"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kumimoji="1" lang="ja-JP" altLang="en-US" kern="0">
              <a:solidFill>
                <a:srgbClr val="5BB8D1"/>
              </a:solidFill>
              <a:latin typeface="Open San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612FD6-184A-4A5D-8272-D9CEF0F5FE61}"/>
              </a:ext>
            </a:extLst>
          </p:cNvPr>
          <p:cNvGrpSpPr/>
          <p:nvPr/>
        </p:nvGrpSpPr>
        <p:grpSpPr>
          <a:xfrm>
            <a:off x="749550" y="1284263"/>
            <a:ext cx="960519" cy="1000740"/>
            <a:chOff x="448955" y="558131"/>
            <a:chExt cx="2077570" cy="216456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7A5406E-B064-465E-AA85-9364416E0253}"/>
                </a:ext>
              </a:extLst>
            </p:cNvPr>
            <p:cNvSpPr/>
            <p:nvPr/>
          </p:nvSpPr>
          <p:spPr>
            <a:xfrm>
              <a:off x="448955" y="558131"/>
              <a:ext cx="2077570" cy="2077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solidFill>
                  <a:srgbClr val="4F81BD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2AF0D11-4A6A-459B-ACB7-938386FB560A}"/>
                </a:ext>
              </a:extLst>
            </p:cNvPr>
            <p:cNvSpPr/>
            <p:nvPr/>
          </p:nvSpPr>
          <p:spPr>
            <a:xfrm>
              <a:off x="515436" y="624612"/>
              <a:ext cx="1942915" cy="19429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04E76B1-0883-40FE-821B-C1359DA29079}"/>
                </a:ext>
              </a:extLst>
            </p:cNvPr>
            <p:cNvSpPr/>
            <p:nvPr/>
          </p:nvSpPr>
          <p:spPr>
            <a:xfrm>
              <a:off x="655691" y="693924"/>
              <a:ext cx="1689934" cy="1148351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sz="3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Bab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E36DB5F-AB0E-4795-A6E1-C51FB7EF454B}"/>
                </a:ext>
              </a:extLst>
            </p:cNvPr>
            <p:cNvSpPr/>
            <p:nvPr/>
          </p:nvSpPr>
          <p:spPr>
            <a:xfrm>
              <a:off x="1004881" y="1241492"/>
              <a:ext cx="951411" cy="148120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sz="4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64C2093-2E9F-4317-9EBA-2EC5EC45C6D0}"/>
              </a:ext>
            </a:extLst>
          </p:cNvPr>
          <p:cNvSpPr/>
          <p:nvPr/>
        </p:nvSpPr>
        <p:spPr>
          <a:xfrm>
            <a:off x="1980635" y="131894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Clr>
                <a:srgbClr val="FFA513"/>
              </a:buClr>
              <a:defRPr/>
            </a:pPr>
            <a:r>
              <a:rPr lang="nn-NO" altLang="ja-JP" sz="4000" b="1" dirty="0">
                <a:latin typeface="Arial" pitchFamily="34" charset="0"/>
                <a:cs typeface="Arial" pitchFamily="34" charset="0"/>
              </a:rPr>
              <a:t>LOGARITMA</a:t>
            </a:r>
            <a:endParaRPr lang="en-US" altLang="ja-JP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6FCFE-5D5C-47C6-B20E-363254C2A533}"/>
              </a:ext>
            </a:extLst>
          </p:cNvPr>
          <p:cNvSpPr/>
          <p:nvPr/>
        </p:nvSpPr>
        <p:spPr>
          <a:xfrm>
            <a:off x="533401" y="2846399"/>
            <a:ext cx="4619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altLang="ja-JP" b="1" dirty="0">
                <a:latin typeface="Arial" pitchFamily="34" charset="0"/>
                <a:cs typeface="Arial" pitchFamily="34" charset="0"/>
              </a:rPr>
              <a:t>SUBBAB 3 : PERSAMAAN LOGARITMA</a:t>
            </a:r>
            <a:endParaRPr 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8426" y="1143000"/>
            <a:ext cx="3910026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FUNGSI, PERSAMAAN, DAN PERTIDAKSAMAAN LOGARITMA</a:t>
            </a:r>
          </a:p>
        </p:txBody>
      </p:sp>
      <p:cxnSp>
        <p:nvCxnSpPr>
          <p:cNvPr id="3" name="Straight Arrow Connector 2"/>
          <p:cNvCxnSpPr>
            <a:stCxn id="2" idx="2"/>
          </p:cNvCxnSpPr>
          <p:nvPr/>
        </p:nvCxnSpPr>
        <p:spPr>
          <a:xfrm rot="5400000">
            <a:off x="4266174" y="2448959"/>
            <a:ext cx="623092" cy="114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2071670" y="2362200"/>
            <a:ext cx="5072098" cy="15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>
            <a:off x="1858150" y="25757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6928660" y="25757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42976" y="2819400"/>
            <a:ext cx="185738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FUNGSI LOGARITMA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8558" y="2772696"/>
            <a:ext cx="192882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PERSAMAAN LOGARITMA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3636" y="2819400"/>
            <a:ext cx="192882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FUNGSI LOGARITMA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929588" y="37949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4356892" y="37949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6928660" y="3823492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90612" y="4038600"/>
            <a:ext cx="185738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400" y="4038600"/>
            <a:ext cx="2000264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BENTUK-BENTUK PERSAMAAN LOGARIMA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3636" y="4055808"/>
            <a:ext cx="2000264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BENTUK-BENTUK PERTIDAKSAMAAN LOGARIMA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0612" y="5257800"/>
            <a:ext cx="185738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GRAFIK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1929588" y="50141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4356892" y="5014120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6930248" y="5028868"/>
            <a:ext cx="42862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43306" y="5257800"/>
            <a:ext cx="185738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PENYELESAIAN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5074" y="5257800"/>
            <a:ext cx="185738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PENYELESAIAN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14748" y="0"/>
            <a:ext cx="9129252" cy="9144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PETA KONSEP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Left Arrow 28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30" name="Right Arrow 29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31" name="Curved Down Ribbon 30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799304"/>
            <a:ext cx="7543800" cy="144655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adalah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suatu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yang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numerusnya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bilangan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yang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ambil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logaritmanya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memuat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variabel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x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atau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yang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bilangan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pokok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atau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numerusnya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memuat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variabel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52800"/>
            <a:ext cx="7696200" cy="76944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Adapun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bentuk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bentuk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dari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yang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kita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pelajari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sebagai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berikut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91000"/>
            <a:ext cx="2438400" cy="400110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a. 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30372"/>
            <a:ext cx="2743200" cy="400110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b. 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g(x)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0" y="4191000"/>
            <a:ext cx="2743200" cy="400110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c. 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0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f(x)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0" y="4586748"/>
            <a:ext cx="4038600" cy="400110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d. A {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x}</a:t>
            </a:r>
            <a:r>
              <a:rPr lang="en-US" sz="20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+ B {</a:t>
            </a:r>
            <a:r>
              <a:rPr lang="en-US" sz="2000" b="1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x} + C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05400"/>
            <a:ext cx="7772400" cy="110799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Adapun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f(x) dan g(x)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adalah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fungsi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fungsi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aljabar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dengan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f(x),g(x) &gt; 0; a, b, p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bilangan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real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positif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, x &gt; 0, a ≠ 1, b ≠ 1; A, B, C </a:t>
            </a:r>
            <a:r>
              <a:rPr lang="en-US" sz="22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bilangan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real, A ≠ 0. 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105696"/>
            <a:ext cx="9144000" cy="990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Persamaan</a:t>
            </a:r>
            <a:r>
              <a:rPr kumimoji="0" lang="en-US" sz="4000" b="0" i="0" u="none" strike="noStrike" kern="1200" cap="all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kern="1200" cap="all" spc="0" normalizeH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1219200"/>
            <a:ext cx="1981200" cy="461665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 DEFINISI 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3" name="Curved Down Ribbon 22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626513"/>
            <a:ext cx="7239000" cy="461665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a.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berbentuk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400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5800" y="2667000"/>
                <a:ext cx="4419600" cy="52322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Jika </a:t>
                </a:r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p>
                      <m:e>
                        <m:func>
                          <m:func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Pre>
                          <m:sPre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sup>
                          <m:e>
                            <m:func>
                              <m:funcPr>
                                <m:ctrlP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𝒍𝒐𝒈</m:t>
                                </m:r>
                              </m:fName>
                              <m:e>
                                <m: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func>
                          </m:e>
                        </m:sPre>
                      </m:e>
                    </m:sPre>
                  </m:oMath>
                </a14:m>
                <a:endParaRPr lang="en-US" sz="28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667000"/>
                <a:ext cx="4419600" cy="523220"/>
              </a:xfrm>
              <a:prstGeom prst="rect">
                <a:avLst/>
              </a:prstGeom>
              <a:blipFill>
                <a:blip r:embed="rId2"/>
                <a:stretch>
                  <a:fillRect l="-2897" t="-12941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5800" y="3429000"/>
                <a:ext cx="5638800" cy="52322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maka </a:t>
                </a:r>
                <a14:m>
                  <m:oMath xmlns:m="http://schemas.openxmlformats.org/officeDocument/2006/math"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asalkan </a:t>
                </a:r>
                <a14:m>
                  <m:oMath xmlns:m="http://schemas.openxmlformats.org/officeDocument/2006/math"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id-ID" sz="2800" b="1" dirty="0">
                  <a:solidFill>
                    <a:srgbClr val="7030A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429000"/>
                <a:ext cx="5638800" cy="523220"/>
              </a:xfrm>
              <a:prstGeom prst="rect">
                <a:avLst/>
              </a:prstGeom>
              <a:blipFill>
                <a:blip r:embed="rId3"/>
                <a:stretch>
                  <a:fillRect l="-2270" t="-12941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Persamaan</a:t>
            </a: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21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474113"/>
            <a:ext cx="1295400" cy="430887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Contoh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12203"/>
            <a:ext cx="7620000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Tentukan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penyelesaian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dari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berikut</a:t>
            </a:r>
            <a:r>
              <a:rPr lang="en-US" sz="24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2769513"/>
            <a:ext cx="259080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a. </a:t>
            </a:r>
            <a:r>
              <a:rPr lang="en-US" sz="2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 (3x – 1) = 3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2769513"/>
            <a:ext cx="472440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b. </a:t>
            </a:r>
            <a:r>
              <a:rPr lang="en-US" sz="2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 (x – 5) + </a:t>
            </a:r>
            <a:r>
              <a:rPr lang="en-US" sz="2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 (x – 2) = </a:t>
            </a:r>
            <a:r>
              <a:rPr lang="en-US" sz="2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log 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352800"/>
            <a:ext cx="2057400" cy="430887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Penyelesaian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886200"/>
            <a:ext cx="3733800" cy="110799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573088" indent="-573088">
              <a:buAutoNum type="alphaLcPeriod"/>
              <a:tabLst>
                <a:tab pos="573088" algn="l"/>
              </a:tabLst>
            </a:pP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(3x – 1) = 3 </a:t>
            </a:r>
          </a:p>
          <a:p>
            <a:pPr marL="342900" indent="-342900">
              <a:tabLst>
                <a:tab pos="231775" algn="l"/>
                <a:tab pos="573088" algn="l"/>
              </a:tabLst>
            </a:pP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	↔	</a:t>
            </a: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2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(3x – 1) = </a:t>
            </a: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2</a:t>
            </a: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>
              <a:tabLst>
                <a:tab pos="231775" algn="l"/>
                <a:tab pos="573088" algn="l"/>
              </a:tabLst>
            </a:pP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	↔	 </a:t>
            </a: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(3x – 1) = </a:t>
            </a:r>
            <a:r>
              <a:rPr lang="en-US" sz="22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5064204"/>
            <a:ext cx="8382000" cy="110799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3x – 1 = 8 ↔ x = 3</a:t>
            </a:r>
          </a:p>
          <a:p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dalam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hal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ini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syarat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3x – 1 &gt; 0 dan 3(3) – 1 = 8 &gt; 0 (8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memenuhi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Maka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penyelesaiannya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adalah</a:t>
            </a:r>
            <a:r>
              <a:rPr lang="en-US"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x = 3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Persamaan</a:t>
            </a:r>
            <a:r>
              <a:rPr lang="en-US" sz="4000" cap="all" dirty="0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1" name="Curved Down Ribbon 20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47800"/>
            <a:ext cx="4724400" cy="430887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b. </a:t>
            </a:r>
            <a:r>
              <a:rPr lang="en-US" sz="2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(x – 5) + </a:t>
            </a:r>
            <a:r>
              <a:rPr lang="en-US" sz="2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(x – 2) = </a:t>
            </a:r>
            <a:r>
              <a:rPr lang="en-US" sz="2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81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648200"/>
            <a:ext cx="7924800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Syarat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yang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harus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dipenuhi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adalah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x – 5 &gt; 0 dan x – 2 &gt; 0</a:t>
            </a:r>
          </a:p>
          <a:p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Maka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kita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uji x = 1 ↔ 1 – 5 = -4 &lt; 0 (1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memenuhi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	          x = 6 ↔ 6 – 5 = 1 &gt; 0 dan 6 – 2 = 4 &gt; 0 (6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memenuhi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93017"/>
            <a:ext cx="4648200" cy="255454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>
              <a:tabLst>
                <a:tab pos="573088" algn="l"/>
              </a:tabLst>
            </a:pP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	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(x – 5) + 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(x – 2) = 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81 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(x – 5) (x – 2) = 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9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(x – 5) (x – 2) = 2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(x – 5) (x – 2) = 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log 2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x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– 7x + 10 = 4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x</a:t>
            </a:r>
            <a:r>
              <a:rPr lang="en-US" sz="2000" baseline="30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– 7x + 6 = 0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(x – 1)(x – 6) = 0</a:t>
            </a:r>
          </a:p>
          <a:p>
            <a:pPr>
              <a:tabLst>
                <a:tab pos="573088" algn="l"/>
              </a:tabLst>
            </a:pP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↔	x = 1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atau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x =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72090"/>
            <a:ext cx="8077200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Karena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hanya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6 yang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memenuhi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syarat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maka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penyelesaiannya</a:t>
            </a:r>
            <a:r>
              <a:rPr lang="en-US" sz="2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x = 6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Persamaan</a:t>
            </a:r>
            <a:r>
              <a:rPr lang="en-US" sz="4000" cap="all" dirty="0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192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Arial" pitchFamily="34" charset="0"/>
                <a:cs typeface="Arial" pitchFamily="34" charset="0"/>
              </a:rPr>
              <a:t>Contoh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3505" y="1641573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rial" pitchFamily="34" charset="0"/>
                <a:cs typeface="Arial" pitchFamily="34" charset="0"/>
              </a:rPr>
              <a:t>Diketahui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persamaan</a:t>
            </a:r>
            <a:r>
              <a:rPr lang="en-US" dirty="0">
                <a:latin typeface="Arial" pitchFamily="34" charset="0"/>
                <a:cs typeface="Arial" pitchFamily="34" charset="0"/>
              </a:rPr>
              <a:t> log (x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+ 9x) = 1.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tentukan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himpunan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penyelesaian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dari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persamaan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tersebut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098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Arial" pitchFamily="34" charset="0"/>
                <a:cs typeface="Arial" pitchFamily="34" charset="0"/>
              </a:rPr>
              <a:t>Penyelesaian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6186" y="25908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log (x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+ 11x) = 1 ↔ log (x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+ 9x) = log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925" y="4495800"/>
            <a:ext cx="741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rial" pitchFamily="34" charset="0"/>
                <a:cs typeface="Arial" pitchFamily="34" charset="0"/>
              </a:rPr>
              <a:t>Dalam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hal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ini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syarat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logaritma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adalah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memiliki</a:t>
            </a:r>
            <a:r>
              <a:rPr lang="en-US" dirty="0">
                <a:latin typeface="Arial" pitchFamily="34" charset="0"/>
                <a:cs typeface="Arial" pitchFamily="34" charset="0"/>
              </a:rPr>
              <a:t> numerus &gt; 0.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maka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harus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kita</a:t>
            </a:r>
            <a:r>
              <a:rPr lang="en-US" dirty="0">
                <a:latin typeface="Arial" pitchFamily="34" charset="0"/>
                <a:cs typeface="Arial" pitchFamily="34" charset="0"/>
              </a:rPr>
              <a:t> uji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nilai</a:t>
            </a:r>
            <a:r>
              <a:rPr lang="en-US" dirty="0">
                <a:latin typeface="Arial" pitchFamily="34" charset="0"/>
                <a:cs typeface="Arial" pitchFamily="34" charset="0"/>
              </a:rPr>
              <a:t> x = -10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atau</a:t>
            </a:r>
            <a:r>
              <a:rPr lang="en-US" dirty="0">
                <a:latin typeface="Arial" pitchFamily="34" charset="0"/>
                <a:cs typeface="Arial" pitchFamily="34" charset="0"/>
              </a:rPr>
              <a:t> x = 1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dalam</a:t>
            </a:r>
            <a:r>
              <a:rPr lang="en-US" dirty="0">
                <a:latin typeface="Arial" pitchFamily="34" charset="0"/>
                <a:cs typeface="Arial" pitchFamily="34" charset="0"/>
              </a:rPr>
              <a:t> numerus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Persamaan</a:t>
            </a:r>
            <a:r>
              <a:rPr lang="en-US" sz="4000" cap="all" dirty="0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4000" cap="all" dirty="0" err="1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Left Arrow 16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9" name="Curved Down Ribbon 18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7A902-8343-456E-A46A-D497E9B11D6B}"/>
              </a:ext>
            </a:extLst>
          </p:cNvPr>
          <p:cNvSpPr/>
          <p:nvPr/>
        </p:nvSpPr>
        <p:spPr>
          <a:xfrm>
            <a:off x="2743200" y="3352800"/>
            <a:ext cx="4844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↔ x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+ 9x – 10 = 0.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70A2C8-6389-4092-A5B0-E622A0C6E73D}"/>
              </a:ext>
            </a:extLst>
          </p:cNvPr>
          <p:cNvSpPr/>
          <p:nvPr/>
        </p:nvSpPr>
        <p:spPr>
          <a:xfrm>
            <a:off x="2743199" y="3733800"/>
            <a:ext cx="4844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↔ (x + 10)(x – 1)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3826F1-CA9A-4398-9728-70BBD8996BF7}"/>
              </a:ext>
            </a:extLst>
          </p:cNvPr>
          <p:cNvSpPr/>
          <p:nvPr/>
        </p:nvSpPr>
        <p:spPr>
          <a:xfrm>
            <a:off x="2743200" y="2971800"/>
            <a:ext cx="1705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↔ x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+ 9x = 10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41863-1F7E-4E1C-AA33-1EE54F7EDFA4}"/>
              </a:ext>
            </a:extLst>
          </p:cNvPr>
          <p:cNvSpPr/>
          <p:nvPr/>
        </p:nvSpPr>
        <p:spPr>
          <a:xfrm>
            <a:off x="2743198" y="4126468"/>
            <a:ext cx="4844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↔ x = -10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atau</a:t>
            </a:r>
            <a:r>
              <a:rPr lang="en-US" dirty="0">
                <a:latin typeface="Arial" pitchFamily="34" charset="0"/>
                <a:cs typeface="Arial" pitchFamily="34" charset="0"/>
              </a:rPr>
              <a:t> x = 1).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A2E0A-FFA0-4324-9811-B1867A90977B}"/>
              </a:ext>
            </a:extLst>
          </p:cNvPr>
          <p:cNvSpPr txBox="1"/>
          <p:nvPr/>
        </p:nvSpPr>
        <p:spPr>
          <a:xfrm>
            <a:off x="868925" y="518160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itchFamily="34" charset="0"/>
                <a:cs typeface="Arial" pitchFamily="34" charset="0"/>
              </a:rPr>
              <a:t>Untuk</a:t>
            </a:r>
            <a:r>
              <a:rPr lang="en-US" dirty="0">
                <a:latin typeface="Arial" pitchFamily="34" charset="0"/>
                <a:cs typeface="Arial" pitchFamily="34" charset="0"/>
              </a:rPr>
              <a:t> x = -10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maka</a:t>
            </a:r>
            <a:r>
              <a:rPr lang="en-US" dirty="0">
                <a:latin typeface="Arial" pitchFamily="34" charset="0"/>
                <a:cs typeface="Arial" pitchFamily="34" charset="0"/>
              </a:rPr>
              <a:t> (-10)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+ 9(-10) = 10 &gt; 0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(10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memenuhi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)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x = 1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maka</a:t>
            </a:r>
            <a:r>
              <a:rPr lang="en-US" dirty="0">
                <a:latin typeface="Arial" pitchFamily="34" charset="0"/>
                <a:cs typeface="Arial" pitchFamily="34" charset="0"/>
              </a:rPr>
              <a:t> (1)</a:t>
            </a:r>
            <a:r>
              <a:rPr lang="en-U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latin typeface="Arial" pitchFamily="34" charset="0"/>
                <a:cs typeface="Arial" pitchFamily="34" charset="0"/>
              </a:rPr>
              <a:t> + 9(1) = 11 &gt; 0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(1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memenuhi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A62FF-648A-4731-B1CC-09A08887AC13}"/>
              </a:ext>
            </a:extLst>
          </p:cNvPr>
          <p:cNvSpPr/>
          <p:nvPr/>
        </p:nvSpPr>
        <p:spPr>
          <a:xfrm>
            <a:off x="990600" y="5867090"/>
            <a:ext cx="5455675" cy="36379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832518-EC60-4B99-A53A-3A8F677A18F6}"/>
              </a:ext>
            </a:extLst>
          </p:cNvPr>
          <p:cNvSpPr txBox="1"/>
          <p:nvPr/>
        </p:nvSpPr>
        <p:spPr>
          <a:xfrm>
            <a:off x="990600" y="5850566"/>
            <a:ext cx="568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itchFamily="34" charset="0"/>
                <a:cs typeface="Arial" pitchFamily="34" charset="0"/>
              </a:rPr>
              <a:t>Maka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himpunan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penyelesaiannya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adalah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{-10, 1</a:t>
            </a:r>
            <a:r>
              <a:rPr lang="en-US" dirty="0">
                <a:latin typeface="Arial" pitchFamily="34" charset="0"/>
                <a:cs typeface="Arial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626513"/>
            <a:ext cx="7620000" cy="461665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b.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berbentuk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400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g(x)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4800" y="2590800"/>
                <a:ext cx="5410200" cy="52322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Jika </a:t>
                </a:r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p>
                      <m:e>
                        <m:func>
                          <m:func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Pre>
                          <m:sPre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sup>
                          <m:e>
                            <m:func>
                              <m:funcPr>
                                <m:ctrlP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𝒍𝒐𝒈</m:t>
                                </m:r>
                              </m:fName>
                              <m:e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sPre>
                      </m:e>
                    </m:sPre>
                  </m:oMath>
                </a14:m>
                <a:endParaRPr lang="en-US" sz="28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590800"/>
                <a:ext cx="5410200" cy="523220"/>
              </a:xfrm>
              <a:prstGeom prst="rect">
                <a:avLst/>
              </a:prstGeom>
              <a:blipFill>
                <a:blip r:embed="rId2"/>
                <a:stretch>
                  <a:fillRect l="-2252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800" y="3429000"/>
                <a:ext cx="8382000" cy="52322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maka </a:t>
                </a:r>
                <a14:m>
                  <m:oMath xmlns:m="http://schemas.openxmlformats.org/officeDocument/2006/math"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asalkan </a:t>
                </a:r>
                <a14:m>
                  <m:oMath xmlns:m="http://schemas.openxmlformats.org/officeDocument/2006/math"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𝒅𝒂𝒏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id-ID" sz="2800" b="1" dirty="0">
                  <a:solidFill>
                    <a:srgbClr val="7030A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29000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l="-1455" t="-12941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Persamaan</a:t>
            </a: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3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594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dirty="0"/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91666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logaritma</a:t>
            </a:r>
            <a:r>
              <a:rPr lang="en-US" dirty="0"/>
              <a:t> log (x</a:t>
            </a:r>
            <a:r>
              <a:rPr lang="en-US" baseline="30000" dirty="0"/>
              <a:t>2</a:t>
            </a:r>
            <a:r>
              <a:rPr lang="en-US" dirty="0"/>
              <a:t> + 5x – 7) = log (x –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6220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Penyelesaian</a:t>
            </a:r>
            <a:r>
              <a:rPr lang="en-US" b="1" dirty="0"/>
              <a:t>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95600"/>
            <a:ext cx="693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tabLst>
                <a:tab pos="463550" algn="l"/>
              </a:tabLst>
            </a:pPr>
            <a:r>
              <a:rPr lang="en-US" dirty="0"/>
              <a:t>	 log (x</a:t>
            </a:r>
            <a:r>
              <a:rPr lang="en-US" baseline="30000" dirty="0"/>
              <a:t>2</a:t>
            </a:r>
            <a:r>
              <a:rPr lang="en-US" dirty="0"/>
              <a:t> + 5x – 7) = log (x – 2)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 x</a:t>
            </a:r>
            <a:r>
              <a:rPr lang="en-US" baseline="30000" dirty="0"/>
              <a:t>2</a:t>
            </a:r>
            <a:r>
              <a:rPr lang="en-US" dirty="0"/>
              <a:t> + 5x – 7 = x – 2 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 x</a:t>
            </a:r>
            <a:r>
              <a:rPr lang="en-US" baseline="30000" dirty="0"/>
              <a:t>2</a:t>
            </a:r>
            <a:r>
              <a:rPr lang="en-US" dirty="0"/>
              <a:t> + 4x – 5 = 0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(x + 5)(x – 1) = 0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x = -5 </a:t>
            </a:r>
            <a:r>
              <a:rPr lang="en-US" dirty="0" err="1"/>
              <a:t>atau</a:t>
            </a:r>
            <a:r>
              <a:rPr lang="en-US" dirty="0"/>
              <a:t> x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35863"/>
            <a:ext cx="792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x = - 5 </a:t>
            </a:r>
            <a:r>
              <a:rPr lang="en-US" dirty="0" err="1"/>
              <a:t>disubstitusikan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x</a:t>
            </a:r>
            <a:r>
              <a:rPr lang="en-US" baseline="30000" dirty="0"/>
              <a:t>2</a:t>
            </a:r>
            <a:r>
              <a:rPr lang="en-US" dirty="0"/>
              <a:t> + 5x – 7 </a:t>
            </a:r>
            <a:r>
              <a:rPr lang="en-US" dirty="0" err="1"/>
              <a:t>dan</a:t>
            </a:r>
            <a:r>
              <a:rPr lang="en-US" dirty="0"/>
              <a:t> x – 2,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, </a:t>
            </a:r>
            <a:r>
              <a:rPr lang="en-US" dirty="0" err="1"/>
              <a:t>berarti</a:t>
            </a:r>
            <a:r>
              <a:rPr lang="en-US" dirty="0"/>
              <a:t> x = - 5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x = 1 </a:t>
            </a:r>
            <a:r>
              <a:rPr lang="en-US" dirty="0" err="1"/>
              <a:t>disubstitusikan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x</a:t>
            </a:r>
            <a:r>
              <a:rPr lang="en-US" baseline="30000" dirty="0"/>
              <a:t>2</a:t>
            </a:r>
            <a:r>
              <a:rPr lang="en-US" dirty="0"/>
              <a:t> + 5x – 7 </a:t>
            </a:r>
            <a:r>
              <a:rPr lang="en-US" dirty="0" err="1"/>
              <a:t>dan</a:t>
            </a:r>
            <a:r>
              <a:rPr lang="en-US" dirty="0"/>
              <a:t> x – 2,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x = 1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. </a:t>
            </a:r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{  }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az-Cyrl-AZ" dirty="0"/>
              <a:t>ф</a:t>
            </a:r>
            <a:r>
              <a:rPr lang="en-US" dirty="0"/>
              <a:t> (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kosong</a:t>
            </a:r>
            <a:r>
              <a:rPr lang="en-US" dirty="0"/>
              <a:t>).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Left Arrow 16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9" name="Curved Down Ribbon 18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D3473A0-0631-4869-954A-77A073C851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537" y="1447800"/>
                <a:ext cx="8162925" cy="57610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"/>
                  <a:defRPr kumimoji="0" sz="3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"/>
                  <a:defRPr kumimoji="0"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"/>
                  <a:defRPr kumimoji="0"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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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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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"/>
                  <a:defRPr kumimoji="0"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Akan ditentukan HP dari 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</m:e>
                    </m:sPre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sPre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Jawab :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sPre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d-ID" sz="2000" i="1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−4)=0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4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D3473A0-0631-4869-954A-77A073C85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" y="1447800"/>
                <a:ext cx="8162925" cy="5761039"/>
              </a:xfrm>
              <a:prstGeom prst="rect">
                <a:avLst/>
              </a:prstGeom>
              <a:blipFill>
                <a:blip r:embed="rId3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0A6D30E-F60E-4428-826A-483FA0CDF9BA}"/>
                  </a:ext>
                </a:extLst>
              </p:cNvPr>
              <p:cNvSpPr/>
              <p:nvPr/>
            </p:nvSpPr>
            <p:spPr>
              <a:xfrm>
                <a:off x="490537" y="5622015"/>
                <a:ext cx="6334120" cy="505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Jadi, himpunan penyelesaiannya adalah {4}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0A6D30E-F60E-4428-826A-483FA0CDF9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" y="5622015"/>
                <a:ext cx="6334120" cy="505523"/>
              </a:xfrm>
              <a:prstGeom prst="rect">
                <a:avLst/>
              </a:prstGeom>
              <a:blipFill>
                <a:blip r:embed="rId4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293B7A1-7566-4A3A-9D64-E2D91FEEF745}"/>
                  </a:ext>
                </a:extLst>
              </p:cNvPr>
              <p:cNvSpPr/>
              <p:nvPr/>
            </p:nvSpPr>
            <p:spPr>
              <a:xfrm>
                <a:off x="5586411" y="2486037"/>
                <a:ext cx="3067051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</m:oMath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−2=0−2=−2&lt;0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293B7A1-7566-4A3A-9D64-E2D91FEEF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411" y="2486037"/>
                <a:ext cx="3067051" cy="1015663"/>
              </a:xfrm>
              <a:prstGeom prst="rect">
                <a:avLst/>
              </a:prstGeom>
              <a:blipFill>
                <a:blip r:embed="rId5"/>
                <a:stretch>
                  <a:fillRect l="-1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C8FBA86-7B87-46AB-92CC-A062ECA51935}"/>
                  </a:ext>
                </a:extLst>
              </p:cNvPr>
              <p:cNvSpPr/>
              <p:nvPr/>
            </p:nvSpPr>
            <p:spPr>
              <a:xfrm>
                <a:off x="5586410" y="3546194"/>
                <a:ext cx="3724278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=4,</m:t>
                    </m:r>
                  </m:oMath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−2=4−2=2&gt;1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=16−12=4&gt;0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C8FBA86-7B87-46AB-92CC-A062ECA51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410" y="3546194"/>
                <a:ext cx="3724278" cy="2400657"/>
              </a:xfrm>
              <a:prstGeom prst="rect">
                <a:avLst/>
              </a:prstGeom>
              <a:blipFill>
                <a:blip r:embed="rId6"/>
                <a:stretch>
                  <a:fillRect l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626513"/>
            <a:ext cx="7620000" cy="461665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c.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berbentuk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aseline="30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f(x) = </a:t>
            </a:r>
            <a:r>
              <a:rPr lang="en-US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f(x)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5800" y="2590800"/>
                <a:ext cx="5029200" cy="56009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Jika </a:t>
                </a:r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p>
                      <m:e>
                        <m:func>
                          <m:func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Pre>
                          <m:sPrePr>
                            <m:ctrlP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id-ID" sz="28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28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sup>
                          <m:e>
                            <m:func>
                              <m:funcPr>
                                <m:ctrlP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id-ID" sz="28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𝒍𝒐𝒈</m:t>
                                </m:r>
                              </m:fName>
                              <m:e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8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sPre>
                      </m:e>
                    </m:sPre>
                  </m:oMath>
                </a14:m>
                <a:endParaRPr lang="en-US" sz="2800" b="1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590800"/>
                <a:ext cx="5029200" cy="560090"/>
              </a:xfrm>
              <a:prstGeom prst="rect">
                <a:avLst/>
              </a:prstGeom>
              <a:blipFill>
                <a:blip r:embed="rId2"/>
                <a:stretch>
                  <a:fillRect l="-2545" t="-869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5800" y="3429000"/>
                <a:ext cx="6096000" cy="52322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id-ID" sz="2800" b="1" dirty="0">
                    <a:solidFill>
                      <a:srgbClr val="7030A0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maka </a:t>
                </a:r>
                <a14:m>
                  <m:oMath xmlns:m="http://schemas.openxmlformats.org/officeDocument/2006/math"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id-ID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id-ID" sz="2800" b="1" dirty="0">
                  <a:solidFill>
                    <a:srgbClr val="7030A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429000"/>
                <a:ext cx="6096000" cy="523220"/>
              </a:xfrm>
              <a:prstGeom prst="rect">
                <a:avLst/>
              </a:prstGeom>
              <a:blipFill>
                <a:blip r:embed="rId3"/>
                <a:stretch>
                  <a:fillRect l="-2100" t="-12941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Persamaan</a:t>
            </a: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697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38326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64268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logaritma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098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</a:t>
            </a:r>
            <a:r>
              <a:rPr lang="en-US" baseline="30000" dirty="0"/>
              <a:t>2</a:t>
            </a:r>
            <a:r>
              <a:rPr lang="en-US" dirty="0"/>
              <a:t>log (2x + 7) = </a:t>
            </a:r>
            <a:r>
              <a:rPr lang="en-US" baseline="30000" dirty="0"/>
              <a:t>3</a:t>
            </a:r>
            <a:r>
              <a:rPr lang="en-US" dirty="0"/>
              <a:t>log (2x + 7)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</a:t>
            </a:r>
            <a:r>
              <a:rPr lang="en-US" baseline="30000" dirty="0"/>
              <a:t>3</a:t>
            </a:r>
            <a:r>
              <a:rPr lang="en-US" dirty="0"/>
              <a:t>log (x</a:t>
            </a:r>
            <a:r>
              <a:rPr lang="en-US" baseline="30000" dirty="0"/>
              <a:t>2</a:t>
            </a:r>
            <a:r>
              <a:rPr lang="en-US" dirty="0"/>
              <a:t> – 6x + 10) = </a:t>
            </a:r>
            <a:r>
              <a:rPr lang="en-US" baseline="30000" dirty="0"/>
              <a:t>5</a:t>
            </a:r>
            <a:r>
              <a:rPr lang="en-US" dirty="0"/>
              <a:t>log (x</a:t>
            </a:r>
            <a:r>
              <a:rPr lang="en-US" baseline="30000" dirty="0"/>
              <a:t>2</a:t>
            </a:r>
            <a:r>
              <a:rPr lang="en-US" dirty="0"/>
              <a:t> – 6x + 10)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200400"/>
            <a:ext cx="2590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Penyelesaian</a:t>
            </a:r>
            <a:r>
              <a:rPr lang="en-US" dirty="0"/>
              <a:t>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9268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</a:t>
            </a:r>
            <a:r>
              <a:rPr lang="en-US" baseline="30000" dirty="0"/>
              <a:t>2</a:t>
            </a:r>
            <a:r>
              <a:rPr lang="en-US" dirty="0"/>
              <a:t>log (2x + 7) = </a:t>
            </a:r>
            <a:r>
              <a:rPr lang="en-US" baseline="30000" dirty="0"/>
              <a:t>3</a:t>
            </a:r>
            <a:r>
              <a:rPr lang="en-US" dirty="0"/>
              <a:t>log (2x + 7) ↔ 2x + 7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41910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syarat</a:t>
            </a:r>
            <a:r>
              <a:rPr lang="en-US" dirty="0"/>
              <a:t> 2x + 7 &gt; 0 dan 1 &gt; 0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2x + 7 = 1 &gt; 0,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5020581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2x + 7 = 1 ↔ 2x = - 6 ↔ x = - 3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511152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{ -3 }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3" name="Curved Down Ribbon 22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842944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7338" algn="l"/>
                <a:tab pos="682625" algn="l"/>
              </a:tabLst>
            </a:pPr>
            <a:r>
              <a:rPr lang="en-US" dirty="0"/>
              <a:t>b.  </a:t>
            </a:r>
            <a:r>
              <a:rPr lang="en-US" baseline="30000" dirty="0"/>
              <a:t>3</a:t>
            </a:r>
            <a:r>
              <a:rPr lang="en-US" dirty="0"/>
              <a:t>log (x</a:t>
            </a:r>
            <a:r>
              <a:rPr lang="en-US" baseline="30000" dirty="0"/>
              <a:t>2</a:t>
            </a:r>
            <a:r>
              <a:rPr lang="en-US" dirty="0"/>
              <a:t> – 6x + 10) = </a:t>
            </a:r>
            <a:r>
              <a:rPr lang="en-US" baseline="30000" dirty="0"/>
              <a:t>5</a:t>
            </a:r>
            <a:r>
              <a:rPr lang="en-US" dirty="0"/>
              <a:t>log (x</a:t>
            </a:r>
            <a:r>
              <a:rPr lang="en-US" baseline="30000" dirty="0"/>
              <a:t>2</a:t>
            </a:r>
            <a:r>
              <a:rPr lang="en-US" dirty="0"/>
              <a:t> – 6x + 10)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7340"/>
            <a:ext cx="781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Syarat</a:t>
            </a:r>
            <a:r>
              <a:rPr lang="en-US" dirty="0"/>
              <a:t> x</a:t>
            </a:r>
            <a:r>
              <a:rPr lang="en-US" baseline="30000" dirty="0"/>
              <a:t>2</a:t>
            </a:r>
            <a:r>
              <a:rPr lang="en-US" dirty="0"/>
              <a:t> – 6x + 10 &gt; 0 </a:t>
            </a:r>
            <a:r>
              <a:rPr lang="en-US" dirty="0" err="1"/>
              <a:t>dan</a:t>
            </a:r>
            <a:r>
              <a:rPr lang="en-US" dirty="0"/>
              <a:t> 1 &gt; 0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x</a:t>
            </a:r>
            <a:r>
              <a:rPr lang="en-US" baseline="30000" dirty="0"/>
              <a:t>2</a:t>
            </a:r>
            <a:r>
              <a:rPr lang="en-US" dirty="0"/>
              <a:t> – 6x + 10 = 1 &gt; 0,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355" y="3507938"/>
            <a:ext cx="624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 – 6x + 10 = 1 ↔ x</a:t>
            </a:r>
            <a:r>
              <a:rPr lang="en-US" baseline="30000" dirty="0"/>
              <a:t>2</a:t>
            </a:r>
            <a:r>
              <a:rPr lang="en-US" dirty="0"/>
              <a:t> – 6x + 9 = 0</a:t>
            </a:r>
          </a:p>
          <a:p>
            <a:pPr>
              <a:tabLst>
                <a:tab pos="1597025" algn="l"/>
              </a:tabLst>
            </a:pPr>
            <a:r>
              <a:rPr lang="en-US" dirty="0"/>
              <a:t>	↔ (x – 3)</a:t>
            </a:r>
            <a:r>
              <a:rPr lang="en-US" baseline="30000" dirty="0"/>
              <a:t>2</a:t>
            </a:r>
            <a:r>
              <a:rPr lang="en-US" dirty="0"/>
              <a:t> = 0</a:t>
            </a:r>
          </a:p>
          <a:p>
            <a:pPr>
              <a:tabLst>
                <a:tab pos="1597025" algn="l"/>
              </a:tabLst>
            </a:pPr>
            <a:r>
              <a:rPr lang="en-US" dirty="0"/>
              <a:t>	↔ x = 3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07468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{ 3 }.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88CB8-ADEA-4EA3-B0AB-805DB60C53C0}"/>
              </a:ext>
            </a:extLst>
          </p:cNvPr>
          <p:cNvSpPr/>
          <p:nvPr/>
        </p:nvSpPr>
        <p:spPr>
          <a:xfrm>
            <a:off x="304800" y="2373542"/>
            <a:ext cx="2902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87338" algn="l"/>
                <a:tab pos="682625" algn="l"/>
              </a:tabLst>
            </a:pPr>
            <a:r>
              <a:rPr lang="en-US" dirty="0"/>
              <a:t>		↔  x</a:t>
            </a:r>
            <a:r>
              <a:rPr lang="en-US" baseline="30000" dirty="0"/>
              <a:t>2</a:t>
            </a:r>
            <a:r>
              <a:rPr lang="en-US" dirty="0"/>
              <a:t> – 6x + 10 = 1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626513"/>
            <a:ext cx="8610600" cy="446276"/>
          </a:xfrm>
          <a:prstGeom prst="rect">
            <a:avLst/>
          </a:prstGeom>
          <a:solidFill>
            <a:srgbClr val="F9B201"/>
          </a:solidFill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d. </a:t>
            </a:r>
            <a:r>
              <a:rPr lang="en-US" sz="23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Persamaan</a:t>
            </a:r>
            <a:r>
              <a:rPr lang="en-US" sz="23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logaritma</a:t>
            </a:r>
            <a:r>
              <a:rPr lang="en-US" sz="23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3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berbentuk</a:t>
            </a:r>
            <a:r>
              <a:rPr lang="en-US" sz="23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 {</a:t>
            </a:r>
            <a:r>
              <a:rPr lang="en-US" sz="2300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x}</a:t>
            </a:r>
            <a:r>
              <a:rPr lang="en-US" sz="23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 {</a:t>
            </a:r>
            <a:r>
              <a:rPr lang="en-US" sz="2300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x} + C = 0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6248400" cy="5232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Jika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{</a:t>
            </a:r>
            <a:r>
              <a:rPr lang="en-US" sz="2800" b="1" baseline="30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x}</a:t>
            </a:r>
            <a:r>
              <a:rPr lang="en-US" sz="2800" b="1" baseline="30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 {</a:t>
            </a:r>
            <a:r>
              <a:rPr lang="en-US" sz="2800" b="1" baseline="30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x} + C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7696200" cy="138499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dimisalkan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= </a:t>
            </a:r>
            <a:r>
              <a:rPr lang="en-US" sz="2800" b="1" baseline="30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diubah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kuadrat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variabel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y.</a:t>
            </a:r>
            <a:endParaRPr lang="id-ID" sz="2800" b="1" dirty="0">
              <a:solidFill>
                <a:srgbClr val="7030A0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Persamaan</a:t>
            </a: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kern="1200" cap="all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18" name="Curved Down Ribbon 17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84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3566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690" y="199870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logaritma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690" y="2557764"/>
            <a:ext cx="3581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log</a:t>
            </a:r>
            <a:r>
              <a:rPr lang="en-US" baseline="30000" dirty="0"/>
              <a:t>2</a:t>
            </a:r>
            <a:r>
              <a:rPr lang="en-US" dirty="0"/>
              <a:t> x – 2 log x =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690" y="3148454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</a:t>
            </a:r>
            <a:r>
              <a:rPr lang="en-US" baseline="30000" dirty="0"/>
              <a:t>5</a:t>
            </a:r>
            <a:r>
              <a:rPr lang="en-US" dirty="0"/>
              <a:t>log</a:t>
            </a:r>
            <a:r>
              <a:rPr lang="en-US" baseline="30000" dirty="0"/>
              <a:t>2</a:t>
            </a:r>
            <a:r>
              <a:rPr lang="en-US" dirty="0"/>
              <a:t> x – </a:t>
            </a:r>
            <a:r>
              <a:rPr lang="en-US" baseline="30000" dirty="0"/>
              <a:t>5</a:t>
            </a:r>
            <a:r>
              <a:rPr lang="en-US" dirty="0"/>
              <a:t>log x</a:t>
            </a:r>
            <a:r>
              <a:rPr lang="en-US" baseline="30000" dirty="0"/>
              <a:t>6</a:t>
            </a:r>
            <a:r>
              <a:rPr lang="en-US" dirty="0"/>
              <a:t> + 5 = 0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3070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Penyelesaian</a:t>
            </a:r>
            <a:r>
              <a:rPr lang="en-US" dirty="0"/>
              <a:t>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7640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31775" algn="l"/>
                <a:tab pos="627063" algn="l"/>
              </a:tabLst>
            </a:pPr>
            <a:r>
              <a:rPr lang="en-US" dirty="0"/>
              <a:t>a. 	log</a:t>
            </a:r>
            <a:r>
              <a:rPr lang="en-US" baseline="30000" dirty="0"/>
              <a:t>2</a:t>
            </a:r>
            <a:r>
              <a:rPr lang="en-US" dirty="0"/>
              <a:t> x – 2 log x = 24</a:t>
            </a:r>
          </a:p>
          <a:p>
            <a:pPr>
              <a:tabLst>
                <a:tab pos="231775" algn="l"/>
                <a:tab pos="627063" algn="l"/>
              </a:tabLst>
            </a:pPr>
            <a:r>
              <a:rPr lang="en-US" dirty="0"/>
              <a:t>	↔	log</a:t>
            </a:r>
            <a:r>
              <a:rPr lang="en-US" baseline="30000" dirty="0"/>
              <a:t>2</a:t>
            </a:r>
            <a:r>
              <a:rPr lang="en-US" dirty="0"/>
              <a:t> x – 2 log x - 24 = 0</a:t>
            </a:r>
          </a:p>
          <a:p>
            <a:pPr>
              <a:tabLst>
                <a:tab pos="231775" algn="l"/>
                <a:tab pos="627063" algn="l"/>
              </a:tabLst>
            </a:pPr>
            <a:r>
              <a:rPr lang="en-US" dirty="0"/>
              <a:t>	↔	(log x)</a:t>
            </a:r>
            <a:r>
              <a:rPr lang="en-US" baseline="30000" dirty="0"/>
              <a:t>2</a:t>
            </a:r>
            <a:r>
              <a:rPr lang="en-US" dirty="0"/>
              <a:t> – 2 log x – 24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5908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Misalkan</a:t>
            </a:r>
            <a:r>
              <a:rPr lang="en-US" dirty="0"/>
              <a:t> log x = p.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19113" algn="l"/>
              </a:tabLst>
            </a:pPr>
            <a:r>
              <a:rPr lang="en-US" dirty="0"/>
              <a:t>	p</a:t>
            </a:r>
            <a:r>
              <a:rPr lang="en-US" baseline="30000" dirty="0"/>
              <a:t>2</a:t>
            </a:r>
            <a:r>
              <a:rPr lang="en-US" dirty="0"/>
              <a:t> – 2p – 24 = 0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(p + 4)(p – 6) = 0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↔	p = - 4 </a:t>
            </a:r>
            <a:r>
              <a:rPr lang="en-US" dirty="0" err="1"/>
              <a:t>atau</a:t>
            </a:r>
            <a:r>
              <a:rPr lang="en-US" dirty="0"/>
              <a:t> p 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p = - 4 → log x = - 4</a:t>
            </a:r>
          </a:p>
          <a:p>
            <a:r>
              <a:rPr lang="en-US" dirty="0"/>
              <a:t>↔ log x = log 10</a:t>
            </a:r>
            <a:r>
              <a:rPr lang="en-US" baseline="30000" dirty="0"/>
              <a:t>-4</a:t>
            </a:r>
            <a:r>
              <a:rPr lang="en-US" dirty="0"/>
              <a:t> </a:t>
            </a:r>
          </a:p>
          <a:p>
            <a:r>
              <a:rPr lang="en-US" dirty="0"/>
              <a:t>↔ x = 10</a:t>
            </a:r>
            <a:r>
              <a:rPr lang="en-US" baseline="30000" dirty="0"/>
              <a:t>-4</a:t>
            </a:r>
            <a:r>
              <a:rPr lang="en-US" dirty="0"/>
              <a:t> </a:t>
            </a:r>
          </a:p>
          <a:p>
            <a:r>
              <a:rPr lang="en-US" dirty="0"/>
              <a:t>↔ x = 0,0001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4191000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p = 6 → log x = 6</a:t>
            </a:r>
          </a:p>
          <a:p>
            <a:r>
              <a:rPr lang="en-US" dirty="0"/>
              <a:t>↔ log x = log 10</a:t>
            </a:r>
            <a:r>
              <a:rPr lang="en-US" baseline="30000" dirty="0"/>
              <a:t>6</a:t>
            </a:r>
            <a:r>
              <a:rPr lang="en-US" dirty="0"/>
              <a:t> </a:t>
            </a:r>
          </a:p>
          <a:p>
            <a:r>
              <a:rPr lang="en-US" dirty="0"/>
              <a:t>↔ x = 10</a:t>
            </a:r>
            <a:r>
              <a:rPr lang="en-US" baseline="30000" dirty="0"/>
              <a:t>6</a:t>
            </a:r>
            <a:r>
              <a:rPr lang="en-US" dirty="0"/>
              <a:t> </a:t>
            </a:r>
          </a:p>
          <a:p>
            <a:r>
              <a:rPr lang="en-US" dirty="0"/>
              <a:t>↔ x = 1,000,000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3340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proses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– </a:t>
            </a:r>
            <a:r>
              <a:rPr lang="en-US" dirty="0" err="1"/>
              <a:t>nilai</a:t>
            </a:r>
            <a:r>
              <a:rPr lang="en-US" dirty="0"/>
              <a:t> x &gt; 0. </a:t>
            </a:r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{0,0001; 1,000,000}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1" name="Curved Down Ribbon 20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6300" y="1524000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</a:t>
            </a:r>
            <a:r>
              <a:rPr lang="en-US" baseline="30000" dirty="0"/>
              <a:t>5</a:t>
            </a:r>
            <a:r>
              <a:rPr lang="en-US" dirty="0"/>
              <a:t>log</a:t>
            </a:r>
            <a:r>
              <a:rPr lang="en-US" baseline="30000" dirty="0"/>
              <a:t>2</a:t>
            </a:r>
            <a:r>
              <a:rPr lang="en-US" dirty="0"/>
              <a:t> x – </a:t>
            </a:r>
            <a:r>
              <a:rPr lang="en-US" baseline="30000" dirty="0"/>
              <a:t>5</a:t>
            </a:r>
            <a:r>
              <a:rPr lang="en-US" dirty="0"/>
              <a:t>log x</a:t>
            </a:r>
            <a:r>
              <a:rPr lang="en-US" baseline="30000" dirty="0"/>
              <a:t>6</a:t>
            </a:r>
            <a:r>
              <a:rPr lang="en-US" dirty="0"/>
              <a:t> + 5 = 0 ↔ (</a:t>
            </a:r>
            <a:r>
              <a:rPr lang="en-US" baseline="30000" dirty="0"/>
              <a:t>5</a:t>
            </a:r>
            <a:r>
              <a:rPr lang="en-US" dirty="0"/>
              <a:t>log x)</a:t>
            </a:r>
            <a:r>
              <a:rPr lang="en-US" baseline="30000" dirty="0"/>
              <a:t>2</a:t>
            </a:r>
            <a:r>
              <a:rPr lang="en-US" dirty="0"/>
              <a:t> – 6 (</a:t>
            </a:r>
            <a:r>
              <a:rPr lang="en-US" baseline="30000" dirty="0"/>
              <a:t>5</a:t>
            </a:r>
            <a:r>
              <a:rPr lang="en-US" dirty="0"/>
              <a:t>log x) + 5 = 0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2096869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baseline="30000" dirty="0"/>
              <a:t>5</a:t>
            </a:r>
            <a:r>
              <a:rPr lang="en-US" dirty="0"/>
              <a:t>log x = p.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51155" y="2810470"/>
                <a:ext cx="7391400" cy="953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63550"/>
                <a:r>
                  <a:rPr lang="en-U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– 6p + 5 = 0</a:t>
                </a:r>
              </a:p>
              <a:p>
                <a:pPr defTabSz="463550"/>
                <a:r>
                  <a:rPr lang="en-US" dirty="0"/>
                  <a:t>↔	(p – 1)(p – 5) = 0</a:t>
                </a:r>
              </a:p>
              <a:p>
                <a:pPr defTabSz="463550"/>
                <a:r>
                  <a:rPr lang="en-US" dirty="0"/>
                  <a:t>↔	p = 1 </a:t>
                </a:r>
                <a:r>
                  <a:rPr lang="en-US" dirty="0" err="1"/>
                  <a:t>atau</a:t>
                </a:r>
                <a:r>
                  <a:rPr lang="en-US" dirty="0"/>
                  <a:t> p = 5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5" y="2810470"/>
                <a:ext cx="7391400" cy="953210"/>
              </a:xfrm>
              <a:prstGeom prst="rect">
                <a:avLst/>
              </a:prstGeom>
              <a:blipFill>
                <a:blip r:embed="rId2"/>
                <a:stretch>
                  <a:fillRect l="-660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251155" y="3925669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p = 1 → </a:t>
            </a:r>
            <a:r>
              <a:rPr lang="en-US" baseline="30000" dirty="0"/>
              <a:t>5</a:t>
            </a:r>
            <a:r>
              <a:rPr lang="en-US" dirty="0"/>
              <a:t>log x = 1 ↔ </a:t>
            </a:r>
            <a:r>
              <a:rPr lang="en-US" baseline="30000" dirty="0"/>
              <a:t>5</a:t>
            </a:r>
            <a:r>
              <a:rPr lang="en-US" dirty="0"/>
              <a:t>log x = </a:t>
            </a:r>
            <a:r>
              <a:rPr lang="en-US" baseline="30000" dirty="0"/>
              <a:t>5</a:t>
            </a:r>
            <a:r>
              <a:rPr lang="en-US" dirty="0"/>
              <a:t>log 5</a:t>
            </a:r>
          </a:p>
          <a:p>
            <a:pPr>
              <a:tabLst>
                <a:tab pos="2401888" algn="l"/>
              </a:tabLst>
            </a:pPr>
            <a:r>
              <a:rPr lang="en-US" dirty="0"/>
              <a:t>	 ↔ x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687669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p = 5 → </a:t>
            </a:r>
            <a:r>
              <a:rPr lang="en-US" baseline="30000" dirty="0"/>
              <a:t>5</a:t>
            </a:r>
            <a:r>
              <a:rPr lang="en-US" dirty="0"/>
              <a:t>log x = 5 ↔ </a:t>
            </a:r>
            <a:r>
              <a:rPr lang="en-US" baseline="30000" dirty="0"/>
              <a:t>5</a:t>
            </a:r>
            <a:r>
              <a:rPr lang="en-US" dirty="0"/>
              <a:t>log x = </a:t>
            </a:r>
            <a:r>
              <a:rPr lang="en-US" baseline="30000" dirty="0"/>
              <a:t>5</a:t>
            </a:r>
            <a:r>
              <a:rPr lang="en-US" dirty="0"/>
              <a:t>log 5</a:t>
            </a:r>
            <a:r>
              <a:rPr lang="en-US" baseline="30000" dirty="0"/>
              <a:t>5</a:t>
            </a:r>
          </a:p>
          <a:p>
            <a:pPr>
              <a:tabLst>
                <a:tab pos="2401888" algn="l"/>
              </a:tabLst>
            </a:pPr>
            <a:r>
              <a:rPr lang="en-US" dirty="0"/>
              <a:t>	 ↔ x = 5</a:t>
            </a:r>
            <a:r>
              <a:rPr lang="en-US" baseline="30000" dirty="0"/>
              <a:t>5 </a:t>
            </a:r>
            <a:r>
              <a:rPr lang="en-US" dirty="0"/>
              <a:t>= 3.125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54102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proses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– </a:t>
            </a:r>
            <a:r>
              <a:rPr lang="en-US" dirty="0" err="1"/>
              <a:t>nilai</a:t>
            </a:r>
            <a:r>
              <a:rPr lang="en-US" dirty="0"/>
              <a:t> x &gt; 0.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{ 5; 3.125 }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152400"/>
            <a:ext cx="91440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MATERI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HOME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Title 1">
            <a:extLst>
              <a:ext uri="{FF2B5EF4-FFF2-40B4-BE49-F238E27FC236}">
                <a16:creationId xmlns:a16="http://schemas.microsoft.com/office/drawing/2014/main" id="{13D2AFC4-316F-458E-9D6C-669F3E9A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90" y="274638"/>
            <a:ext cx="7329510" cy="79692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Rangkuman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persamaan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logaritma</a:t>
            </a:r>
            <a:endParaRPr lang="id-ID" sz="28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1013ED71-3476-4EE4-8CAC-0C5B2C893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35210"/>
              </p:ext>
            </p:extLst>
          </p:nvPr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1013ED71-3476-4EE4-8CAC-0C5B2C8937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>
            <a:extLst>
              <a:ext uri="{FF2B5EF4-FFF2-40B4-BE49-F238E27FC236}">
                <a16:creationId xmlns:a16="http://schemas.microsoft.com/office/drawing/2014/main" id="{B4C29BA9-D427-43DA-8D63-BDAAC0070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399886"/>
              </p:ext>
            </p:extLst>
          </p:nvPr>
        </p:nvGraphicFramePr>
        <p:xfrm>
          <a:off x="200230" y="1303619"/>
          <a:ext cx="46624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5" imgW="3314520" imgH="507960" progId="Equation.DSMT4">
                  <p:embed/>
                </p:oleObj>
              </mc:Choice>
              <mc:Fallback>
                <p:oleObj name="Equation" r:id="rId5" imgW="3314520" imgH="507960" progId="Equation.DSMT4">
                  <p:embed/>
                  <p:pic>
                    <p:nvPicPr>
                      <p:cNvPr id="11267" name="Object 6">
                        <a:extLst>
                          <a:ext uri="{FF2B5EF4-FFF2-40B4-BE49-F238E27FC236}">
                            <a16:creationId xmlns:a16="http://schemas.microsoft.com/office/drawing/2014/main" id="{B4C29BA9-D427-43DA-8D63-BDAAC0070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30" y="1303619"/>
                        <a:ext cx="466248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>
            <a:extLst>
              <a:ext uri="{FF2B5EF4-FFF2-40B4-BE49-F238E27FC236}">
                <a16:creationId xmlns:a16="http://schemas.microsoft.com/office/drawing/2014/main" id="{51C27FDD-6F2B-4428-807F-0D701228C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729237"/>
              </p:ext>
            </p:extLst>
          </p:nvPr>
        </p:nvGraphicFramePr>
        <p:xfrm>
          <a:off x="138728" y="4038600"/>
          <a:ext cx="45640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7" imgW="3301920" imgH="507960" progId="Equation.DSMT4">
                  <p:embed/>
                </p:oleObj>
              </mc:Choice>
              <mc:Fallback>
                <p:oleObj name="Equation" r:id="rId7" imgW="3301920" imgH="507960" progId="Equation.DSMT4">
                  <p:embed/>
                  <p:pic>
                    <p:nvPicPr>
                      <p:cNvPr id="11268" name="Object 7">
                        <a:extLst>
                          <a:ext uri="{FF2B5EF4-FFF2-40B4-BE49-F238E27FC236}">
                            <a16:creationId xmlns:a16="http://schemas.microsoft.com/office/drawing/2014/main" id="{51C27FDD-6F2B-4428-807F-0D701228C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28" y="4038600"/>
                        <a:ext cx="45640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8">
            <a:extLst>
              <a:ext uri="{FF2B5EF4-FFF2-40B4-BE49-F238E27FC236}">
                <a16:creationId xmlns:a16="http://schemas.microsoft.com/office/drawing/2014/main" id="{1B059B2F-26A9-47BE-B593-2CC6E93D26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393997"/>
              </p:ext>
            </p:extLst>
          </p:nvPr>
        </p:nvGraphicFramePr>
        <p:xfrm>
          <a:off x="200230" y="2221476"/>
          <a:ext cx="6580188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9" imgW="5333760" imgH="507960" progId="Equation.DSMT4">
                  <p:embed/>
                </p:oleObj>
              </mc:Choice>
              <mc:Fallback>
                <p:oleObj name="Equation" r:id="rId9" imgW="5333760" imgH="507960" progId="Equation.DSMT4">
                  <p:embed/>
                  <p:pic>
                    <p:nvPicPr>
                      <p:cNvPr id="11269" name="Object 8">
                        <a:extLst>
                          <a:ext uri="{FF2B5EF4-FFF2-40B4-BE49-F238E27FC236}">
                            <a16:creationId xmlns:a16="http://schemas.microsoft.com/office/drawing/2014/main" id="{1B059B2F-26A9-47BE-B593-2CC6E93D2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30" y="2221476"/>
                        <a:ext cx="6580188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9">
            <a:extLst>
              <a:ext uri="{FF2B5EF4-FFF2-40B4-BE49-F238E27FC236}">
                <a16:creationId xmlns:a16="http://schemas.microsoft.com/office/drawing/2014/main" id="{57BF1DA6-BD1C-44EC-8E3E-ED6652648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037006"/>
              </p:ext>
            </p:extLst>
          </p:nvPr>
        </p:nvGraphicFramePr>
        <p:xfrm>
          <a:off x="138728" y="3115700"/>
          <a:ext cx="7850188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11" imgW="6019560" imgH="533160" progId="Equation.DSMT4">
                  <p:embed/>
                </p:oleObj>
              </mc:Choice>
              <mc:Fallback>
                <p:oleObj name="Equation" r:id="rId11" imgW="6019560" imgH="533160" progId="Equation.DSMT4">
                  <p:embed/>
                  <p:pic>
                    <p:nvPicPr>
                      <p:cNvPr id="11270" name="Object 9">
                        <a:extLst>
                          <a:ext uri="{FF2B5EF4-FFF2-40B4-BE49-F238E27FC236}">
                            <a16:creationId xmlns:a16="http://schemas.microsoft.com/office/drawing/2014/main" id="{57BF1DA6-BD1C-44EC-8E3E-ED66526487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28" y="3115700"/>
                        <a:ext cx="7850188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0">
            <a:extLst>
              <a:ext uri="{FF2B5EF4-FFF2-40B4-BE49-F238E27FC236}">
                <a16:creationId xmlns:a16="http://schemas.microsoft.com/office/drawing/2014/main" id="{4F03C9E5-7E87-4CCC-A205-38137A138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41991"/>
              </p:ext>
            </p:extLst>
          </p:nvPr>
        </p:nvGraphicFramePr>
        <p:xfrm>
          <a:off x="125413" y="4975225"/>
          <a:ext cx="88677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13" imgW="6502320" imgH="774360" progId="Equation.DSMT4">
                  <p:embed/>
                </p:oleObj>
              </mc:Choice>
              <mc:Fallback>
                <p:oleObj name="Equation" r:id="rId13" imgW="6502320" imgH="774360" progId="Equation.DSMT4">
                  <p:embed/>
                  <p:pic>
                    <p:nvPicPr>
                      <p:cNvPr id="11271" name="Object 10">
                        <a:extLst>
                          <a:ext uri="{FF2B5EF4-FFF2-40B4-BE49-F238E27FC236}">
                            <a16:creationId xmlns:a16="http://schemas.microsoft.com/office/drawing/2014/main" id="{4F03C9E5-7E87-4CCC-A205-38137A138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975225"/>
                        <a:ext cx="88677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5" name="Picture 126" descr="Z:\newtek\_backgrounds_1.02\Tim\powerpoint templates\101-120\woodland_stroll\elements\maple_leaf_shake_hg_clr.gif">
            <a:extLst>
              <a:ext uri="{FF2B5EF4-FFF2-40B4-BE49-F238E27FC236}">
                <a16:creationId xmlns:a16="http://schemas.microsoft.com/office/drawing/2014/main" id="{603CB165-A577-4CF8-A715-7173663EDB8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1" y="357188"/>
            <a:ext cx="764479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4" descr="Z:\newtek\_backgrounds_1.02\Tim\powerpoint templates\101-120\woodland_stroll\elements\leaves_falling_hg_clr.gif">
            <a:extLst>
              <a:ext uri="{FF2B5EF4-FFF2-40B4-BE49-F238E27FC236}">
                <a16:creationId xmlns:a16="http://schemas.microsoft.com/office/drawing/2014/main" id="{12B148C0-FC5E-4A49-95EF-EB12E596C0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932" y="1203326"/>
            <a:ext cx="1400838" cy="163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26" descr="Z:\newtek\_backgrounds_1.02\Tim\powerpoint templates\101-120\woodland_stroll\elements\maple_leaf_shake_hg_clr.gif">
            <a:extLst>
              <a:ext uri="{FF2B5EF4-FFF2-40B4-BE49-F238E27FC236}">
                <a16:creationId xmlns:a16="http://schemas.microsoft.com/office/drawing/2014/main" id="{4FA9E88D-36C4-4F11-80AD-534B953F616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400" y="1418062"/>
            <a:ext cx="676275" cy="87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A2BF92-DFCC-4B05-BB98-3317B8C06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Calibri" panose="020F0502020204030204" pitchFamily="34" charset="0"/>
              <a:cs typeface="Arial" pitchFamily="34" charset="0"/>
            </a:endParaRPr>
          </a:p>
        </p:txBody>
      </p:sp>
      <p:sp>
        <p:nvSpPr>
          <p:cNvPr id="16" name="Left Arrow 28">
            <a:extLst>
              <a:ext uri="{FF2B5EF4-FFF2-40B4-BE49-F238E27FC236}">
                <a16:creationId xmlns:a16="http://schemas.microsoft.com/office/drawing/2014/main" id="{E787E73A-C572-4472-B03D-6A81E4DA9633}"/>
              </a:ext>
            </a:extLst>
          </p:cNvPr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hlinkClick r:id="" action="ppaction://hlinkshowjump?jump=previousslide"/>
              </a:rPr>
              <a:t>BACK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7" name="Curved Down Ribbon 19">
            <a:extLst>
              <a:ext uri="{FF2B5EF4-FFF2-40B4-BE49-F238E27FC236}">
                <a16:creationId xmlns:a16="http://schemas.microsoft.com/office/drawing/2014/main" id="{E3C778EB-0748-4A65-9FBB-D049566E392C}"/>
              </a:ext>
            </a:extLst>
          </p:cNvPr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hlinkClick r:id="rId17" action="ppaction://hlinksldjump"/>
              </a:rPr>
              <a:t>HOME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8" name="Right Arrow 18">
            <a:extLst>
              <a:ext uri="{FF2B5EF4-FFF2-40B4-BE49-F238E27FC236}">
                <a16:creationId xmlns:a16="http://schemas.microsoft.com/office/drawing/2014/main" id="{058C69ED-7818-4DE1-ADB6-68FA2A2B9AB2}"/>
              </a:ext>
            </a:extLst>
          </p:cNvPr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1905000"/>
            <a:ext cx="9144000" cy="2133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uLnTx/>
                <a:uFillTx/>
                <a:latin typeface="Arial" pitchFamily="34" charset="0"/>
                <a:cs typeface="Arial" pitchFamily="34" charset="0"/>
              </a:rPr>
              <a:t>BEBERAPA PEMBAHASAN SOAL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cap="all" dirty="0">
                <a:solidFill>
                  <a:srgbClr val="FFFF00"/>
                </a:solidFill>
                <a:effectLst>
                  <a:reflection blurRad="12700" stA="48000" endA="300" endPos="55000" dir="5400000" sy="-90000" algn="bl" rotWithShape="0"/>
                </a:effectLst>
                <a:latin typeface="Arial" pitchFamily="34" charset="0"/>
                <a:cs typeface="Arial" pitchFamily="34" charset="0"/>
              </a:rPr>
              <a:t>PERSAMAAN LOGARITMA</a:t>
            </a:r>
            <a:endParaRPr kumimoji="0" lang="id-ID" sz="4000" b="0" i="0" u="none" strike="noStrike" kern="1200" cap="all" spc="0" normalizeH="0" baseline="0" noProof="0" dirty="0">
              <a:ln>
                <a:noFill/>
              </a:ln>
              <a:solidFill>
                <a:srgbClr val="FFFF00"/>
              </a:solidFill>
              <a:effectLst>
                <a:reflection blurRad="12700" stA="48000" endA="300" endPos="55000" dir="5400000" sy="-90000" algn="bl" rotWithShape="0"/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62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HOME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39AA7EB0-FF4A-4B73-BD18-668E6644B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792439"/>
              </p:ext>
            </p:extLst>
          </p:nvPr>
        </p:nvGraphicFramePr>
        <p:xfrm>
          <a:off x="595313" y="466856"/>
          <a:ext cx="7405687" cy="5688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4" imgW="4724280" imgH="3606480" progId="Equation.DSMT4">
                  <p:embed/>
                </p:oleObj>
              </mc:Choice>
              <mc:Fallback>
                <p:oleObj name="Equation" r:id="rId4" imgW="4724280" imgH="3606480" progId="Equation.DSMT4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815DB62D-7FD0-4091-9743-AA62FF26D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66856"/>
                        <a:ext cx="7405687" cy="5688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DAA4E5-2B76-4C35-8721-677EFDEC05F9}"/>
              </a:ext>
            </a:extLst>
          </p:cNvPr>
          <p:cNvSpPr txBox="1"/>
          <p:nvPr/>
        </p:nvSpPr>
        <p:spPr>
          <a:xfrm>
            <a:off x="4648200" y="1302603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/>
              <a:t>Syarat</a:t>
            </a:r>
            <a:r>
              <a:rPr lang="en-US" sz="1600" b="1" i="1" dirty="0"/>
              <a:t>, x – 2 &gt; 0</a:t>
            </a:r>
          </a:p>
          <a:p>
            <a:r>
              <a:rPr lang="en-US" sz="1600" b="1" i="1" dirty="0" err="1"/>
              <a:t>Maka</a:t>
            </a:r>
            <a:r>
              <a:rPr lang="en-US" sz="1600" b="1" i="1" dirty="0"/>
              <a:t> 18 – 2 = 16 &gt; 0 (18 </a:t>
            </a:r>
            <a:r>
              <a:rPr lang="en-US" sz="1600" b="1" i="1" dirty="0" err="1"/>
              <a:t>merupakan</a:t>
            </a:r>
            <a:r>
              <a:rPr lang="en-US" sz="1600" b="1" i="1" dirty="0"/>
              <a:t> </a:t>
            </a:r>
            <a:r>
              <a:rPr lang="en-US" sz="1600" b="1" i="1" dirty="0" err="1"/>
              <a:t>penyelesaian</a:t>
            </a:r>
            <a:endParaRPr lang="en-US" sz="16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C06192-B833-4B5B-8E85-DCACA99F7578}"/>
                  </a:ext>
                </a:extLst>
              </p:cNvPr>
              <p:cNvSpPr txBox="1"/>
              <p:nvPr/>
            </p:nvSpPr>
            <p:spPr>
              <a:xfrm>
                <a:off x="4714568" y="3829383"/>
                <a:ext cx="3819832" cy="1580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i="1" dirty="0" err="1"/>
                  <a:t>Syarat</a:t>
                </a:r>
                <a:r>
                  <a:rPr lang="en-US" sz="1600" b="1" i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i="1" dirty="0"/>
                  <a:t>– 3 &gt; 0</a:t>
                </a:r>
              </a:p>
              <a:p>
                <a:r>
                  <a:rPr lang="en-US" sz="1600" b="1" i="1" dirty="0" err="1"/>
                  <a:t>Maka</a:t>
                </a:r>
                <a:r>
                  <a:rPr lang="en-US" sz="1600" b="1" i="1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i="1" dirty="0"/>
                  <a:t>– 3 = 1 &gt; 0 (-2 </a:t>
                </a:r>
                <a:r>
                  <a:rPr lang="en-US" sz="1600" b="1" i="1" dirty="0" err="1"/>
                  <a:t>merupakan</a:t>
                </a:r>
                <a:r>
                  <a:rPr lang="en-US" sz="1600" b="1" i="1" dirty="0"/>
                  <a:t> </a:t>
                </a:r>
                <a:r>
                  <a:rPr lang="en-US" sz="1600" b="1" i="1" dirty="0" err="1"/>
                  <a:t>penyelesaian</a:t>
                </a:r>
                <a:r>
                  <a:rPr lang="en-US" sz="1600" b="1" i="1" dirty="0"/>
                  <a:t>)</a:t>
                </a:r>
              </a:p>
              <a:p>
                <a:endParaRPr lang="en-US" sz="1600" b="1" i="1" dirty="0"/>
              </a:p>
              <a:p>
                <a:r>
                  <a:rPr lang="en-US" sz="1600" b="1" i="1" dirty="0"/>
                  <a:t>Maka: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i="1" dirty="0"/>
                  <a:t>– 3 = 1 &gt; 0 (-2 </a:t>
                </a:r>
                <a:r>
                  <a:rPr lang="en-US" sz="1600" b="1" i="1" dirty="0" err="1"/>
                  <a:t>merupakan</a:t>
                </a:r>
                <a:r>
                  <a:rPr lang="en-US" sz="1600" b="1" i="1" dirty="0"/>
                  <a:t> </a:t>
                </a:r>
                <a:r>
                  <a:rPr lang="en-US" sz="1600" b="1" i="1" dirty="0" err="1"/>
                  <a:t>penyelesaian</a:t>
                </a:r>
                <a:r>
                  <a:rPr lang="en-US" sz="1600" b="1" i="1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C06192-B833-4B5B-8E85-DCACA99F7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68" y="3829383"/>
                <a:ext cx="3819832" cy="1580817"/>
              </a:xfrm>
              <a:prstGeom prst="rect">
                <a:avLst/>
              </a:prstGeom>
              <a:blipFill>
                <a:blip r:embed="rId6"/>
                <a:stretch>
                  <a:fillRect l="-797" t="-769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70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B082623-E7A6-4594-8117-A79EBA4A4C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537" y="674174"/>
                <a:ext cx="8162925" cy="57610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"/>
                  <a:defRPr kumimoji="0" sz="3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"/>
                  <a:defRPr kumimoji="0"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"/>
                  <a:defRPr kumimoji="0"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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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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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"/>
                  <a:defRPr kumimoji="0"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Akan ditentukan HP dari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Pre>
                              <m:sPrePr>
                                <m:ctrlP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id-ID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id-ID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d-ID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−3)</m:t>
                                    </m:r>
                                  </m:e>
                                </m:func>
                              </m:e>
                            </m:sPre>
                          </m:e>
                        </m:func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sPre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Jawab :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Pre>
                                <m:sPre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id-ID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id-ID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id-ID" sz="2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−3)</m:t>
                                      </m:r>
                                    </m:e>
                                  </m:func>
                                </m:e>
                              </m:sPre>
                            </m:e>
                          </m:func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−3)</m:t>
                              </m:r>
                            </m:e>
                          </m:func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+6)</m:t>
                              </m:r>
                            </m:e>
                          </m:func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+6=2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B082623-E7A6-4594-8117-A79EBA4A4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" y="674174"/>
                <a:ext cx="8162925" cy="5761039"/>
              </a:xfrm>
              <a:prstGeom prst="rect">
                <a:avLst/>
              </a:prstGeom>
              <a:blipFill>
                <a:blip r:embed="rId3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B396741-5AAE-4D11-ACEC-7279CF21B741}"/>
                  </a:ext>
                </a:extLst>
              </p:cNvPr>
              <p:cNvSpPr/>
              <p:nvPr/>
            </p:nvSpPr>
            <p:spPr>
              <a:xfrm>
                <a:off x="5586411" y="3220843"/>
                <a:ext cx="2881313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−2=4−2=2&gt;0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−3=4−3=1&gt;0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B396741-5AAE-4D11-ACEC-7279CF21B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411" y="3220843"/>
                <a:ext cx="2881313" cy="1477328"/>
              </a:xfrm>
              <a:prstGeom prst="rect">
                <a:avLst/>
              </a:prstGeom>
              <a:blipFill>
                <a:blip r:embed="rId4"/>
                <a:stretch>
                  <a:fillRect l="-2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1EFEFC8-0B65-4EE2-BE63-4CFB9B185F75}"/>
                  </a:ext>
                </a:extLst>
              </p:cNvPr>
              <p:cNvSpPr/>
              <p:nvPr/>
            </p:nvSpPr>
            <p:spPr>
              <a:xfrm>
                <a:off x="1862143" y="5205576"/>
                <a:ext cx="5172069" cy="505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Jadi, himpunan penyelesaiannya adalah {4}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1EFEFC8-0B65-4EE2-BE63-4CFB9B185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43" y="5205576"/>
                <a:ext cx="5172069" cy="505523"/>
              </a:xfrm>
              <a:prstGeom prst="rect">
                <a:avLst/>
              </a:prstGeom>
              <a:blipFill>
                <a:blip r:embed="rId5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35FB686-1373-4A6F-9B5A-9A161CD9C5D8}"/>
                  </a:ext>
                </a:extLst>
              </p:cNvPr>
              <p:cNvSpPr/>
              <p:nvPr/>
            </p:nvSpPr>
            <p:spPr>
              <a:xfrm>
                <a:off x="5586411" y="1712411"/>
                <a:ext cx="3067051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−2=1−2=−1&lt;0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−3=1−3=−2&lt;0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35FB686-1373-4A6F-9B5A-9A161CD9C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411" y="1712411"/>
                <a:ext cx="3067051" cy="1477328"/>
              </a:xfrm>
              <a:prstGeom prst="rect">
                <a:avLst/>
              </a:prstGeom>
              <a:blipFill>
                <a:blip r:embed="rId6"/>
                <a:stretch>
                  <a:fillRect l="-1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784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AF05468-6DA8-42BC-A5E3-BB14E791BA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208" y="406243"/>
                <a:ext cx="8162925" cy="57610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"/>
                  <a:defRPr kumimoji="0" sz="3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"/>
                  <a:defRPr kumimoji="0"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"/>
                  <a:defRPr kumimoji="0"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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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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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"/>
                  <a:defRPr kumimoji="0"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Akan ditentukan HP dari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id-ID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id-ID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Pre>
                          <m:sPrePr>
                            <m:ctrlP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func>
                              <m:funcPr>
                                <m:ctrlPr>
                                  <a:rPr lang="id-ID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d-ID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−2)</m:t>
                                </m:r>
                              </m:e>
                            </m:func>
                          </m:e>
                        </m:sPre>
                      </m:e>
                    </m:func>
                    <m:r>
                      <a:rPr lang="id-ID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d-ID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(3</m:t>
                        </m:r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+2)</m:t>
                        </m:r>
                      </m:e>
                    </m:func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Jawab :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d-ID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Pre>
                            <m:sPrePr>
                              <m:ctrlP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id-ID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d-ID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−2)</m:t>
                                  </m:r>
                                </m:e>
                              </m:func>
                            </m:e>
                          </m:sPre>
                        </m:e>
                      </m:func>
                      <m:r>
                        <a:rPr lang="id-ID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d-ID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(3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e>
                      </m:func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−2)</m:t>
                              </m:r>
                            </m:e>
                          </m:func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+2)</m:t>
                              </m:r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+2)</m:t>
                              </m:r>
                            </m:e>
                          </m:func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+2)</m:t>
                              </m:r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+2=3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 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−6)=0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AF05468-6DA8-42BC-A5E3-BB14E791B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08" y="406243"/>
                <a:ext cx="8162925" cy="5761039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38DBB71-2B63-4AAF-BEC9-2EBE9743DAD7}"/>
                  </a:ext>
                </a:extLst>
              </p:cNvPr>
              <p:cNvSpPr/>
              <p:nvPr/>
            </p:nvSpPr>
            <p:spPr>
              <a:xfrm>
                <a:off x="5435082" y="3452213"/>
                <a:ext cx="348138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−1=6−1=5&gt;0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−2=6−2=4&gt;0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id-ID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=18+2=20&gt;0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38DBB71-2B63-4AAF-BEC9-2EBE9743D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082" y="3452213"/>
                <a:ext cx="3481389" cy="1938992"/>
              </a:xfrm>
              <a:prstGeom prst="rect">
                <a:avLst/>
              </a:prstGeom>
              <a:blipFill>
                <a:blip r:embed="rId4"/>
                <a:stretch>
                  <a:fillRect l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771130-7C87-4467-B6C6-751CA2A961C4}"/>
                  </a:ext>
                </a:extLst>
              </p:cNvPr>
              <p:cNvSpPr/>
              <p:nvPr/>
            </p:nvSpPr>
            <p:spPr>
              <a:xfrm>
                <a:off x="263013" y="5502244"/>
                <a:ext cx="5172069" cy="505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Jadi, himpunan penyelesaiannya adalah {6}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771130-7C87-4467-B6C6-751CA2A96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13" y="5502244"/>
                <a:ext cx="5172069" cy="505523"/>
              </a:xfrm>
              <a:prstGeom prst="rect">
                <a:avLst/>
              </a:prstGeom>
              <a:blipFill>
                <a:blip r:embed="rId5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D7B5D11-881F-47B2-B65E-602DCF6E2CF7}"/>
                  </a:ext>
                </a:extLst>
              </p:cNvPr>
              <p:cNvSpPr/>
              <p:nvPr/>
            </p:nvSpPr>
            <p:spPr>
              <a:xfrm>
                <a:off x="5435082" y="1444480"/>
                <a:ext cx="3067051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</m:oMath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−1=0−1=−1&lt;0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−2=0−2=−2&lt;0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id-ID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=0+2=2&gt;0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D7B5D11-881F-47B2-B65E-602DCF6E2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082" y="1444480"/>
                <a:ext cx="3067051" cy="1938992"/>
              </a:xfrm>
              <a:prstGeom prst="rect">
                <a:avLst/>
              </a:prstGeom>
              <a:blipFill>
                <a:blip r:embed="rId6"/>
                <a:stretch>
                  <a:fillRect l="-2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684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687C573-F276-4656-97C0-5A89AA609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688" y="639761"/>
                <a:ext cx="8162925" cy="57610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"/>
                  <a:defRPr kumimoji="0" sz="3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"/>
                  <a:defRPr kumimoji="0"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"/>
                  <a:defRPr kumimoji="0"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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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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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"/>
                  <a:defRPr kumimoji="0"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Akan ditentukan HP dari 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d-ID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Pre>
                              <m:sPrePr>
                                <m:ctrlP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id-ID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id-ID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d-ID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d-ID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id-ID" sz="2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d-ID" sz="2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id-ID" sz="2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id-ID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id-ID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id-ID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sPre>
                          </m:e>
                        </m:func>
                      </m:e>
                    </m:sPre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Jawab :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d-ID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Pre>
                                <m:sPrePr>
                                  <m:ctrlP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id-ID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id-ID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id-ID" sz="2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id-ID" sz="20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id-ID" sz="200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id-ID" sz="200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id-ID" sz="200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id-ID" sz="20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id-ID" sz="20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id-ID" sz="20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sPre>
                            </m:e>
                          </m:func>
                        </m:e>
                      </m:sPre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+1=1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+1−1=0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687C573-F276-4656-97C0-5A89AA609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88" y="639761"/>
                <a:ext cx="8162925" cy="5761039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F21CB87-D14D-4D45-927B-CD32E422B9E7}"/>
                  </a:ext>
                </a:extLst>
              </p:cNvPr>
              <p:cNvSpPr/>
              <p:nvPr/>
            </p:nvSpPr>
            <p:spPr>
              <a:xfrm>
                <a:off x="710688" y="4813976"/>
                <a:ext cx="6334120" cy="505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Jadi, himpunan penyelesaiannya adalah {0, 1}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F21CB87-D14D-4D45-927B-CD32E422B9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88" y="4813976"/>
                <a:ext cx="6334120" cy="505523"/>
              </a:xfrm>
              <a:prstGeom prst="rect">
                <a:avLst/>
              </a:prstGeom>
              <a:blipFill>
                <a:blip r:embed="rId4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341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l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304800" y="6324600"/>
            <a:ext cx="914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previousslide"/>
              </a:rPr>
              <a:t>BACK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8001000" y="6400800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" action="ppaction://hlinkshowjump?jump=nextslide"/>
              </a:rPr>
              <a:t>NEXT</a:t>
            </a:r>
            <a:endParaRPr lang="en-US" dirty="0"/>
          </a:p>
        </p:txBody>
      </p:sp>
      <p:sp>
        <p:nvSpPr>
          <p:cNvPr id="20" name="Curved Down Ribbon 19"/>
          <p:cNvSpPr/>
          <p:nvPr/>
        </p:nvSpPr>
        <p:spPr>
          <a:xfrm>
            <a:off x="3733800" y="6383592"/>
            <a:ext cx="1676400" cy="381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HOME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2EEAB05-BD2B-44D0-94F7-9A9E3909E5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6693" y="639761"/>
                <a:ext cx="8162925" cy="57610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"/>
                  <a:defRPr kumimoji="0" sz="3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"/>
                  <a:defRPr kumimoji="0"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"/>
                  <a:defRPr kumimoji="0"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 2"/>
                  <a:buChar char="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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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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"/>
                  <a:defRPr kumimoji="0"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 2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Akan ditentukan HP dari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Pre>
                          <m:sPrePr>
                            <m:ctrlP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func>
                              <m:funcPr>
                                <m:ctrlPr>
                                  <a:rPr lang="id-ID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d-ID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id-ID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sPre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sPre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−2=0</m:t>
                    </m:r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Jawab :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Pre>
                            <m:sPrePr>
                              <m:ctrlP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id-ID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d-ID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id-ID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sPr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sPre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Misalkan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id-ID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id-ID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id-ID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d-ID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id-ID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sPre>
                    <m: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maka 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persamaan logaritmanya menjadi</a:t>
                </a: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d-ID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id-ID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sz="2000" i="1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⟺(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+2)(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id-ID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−1)=0</m:t>
                      </m:r>
                    </m:oMath>
                  </m:oMathPara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id-ID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d-ID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id-ID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2EEAB05-BD2B-44D0-94F7-9A9E3909E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93" y="639761"/>
                <a:ext cx="8162925" cy="5761039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5703BD-6422-41B7-ABB6-D2498912670D}"/>
                  </a:ext>
                </a:extLst>
              </p:cNvPr>
              <p:cNvSpPr/>
              <p:nvPr/>
            </p:nvSpPr>
            <p:spPr>
              <a:xfrm>
                <a:off x="596693" y="5099726"/>
                <a:ext cx="6334120" cy="689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d-ID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Jadi, himpunan penyelesaiannya adalah {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,2</m:t>
                    </m:r>
                  </m:oMath>
                </a14:m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5703BD-6422-41B7-ABB6-D24989126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93" y="5099726"/>
                <a:ext cx="6334120" cy="689932"/>
              </a:xfrm>
              <a:prstGeom prst="rect">
                <a:avLst/>
              </a:prstGeom>
              <a:blipFill>
                <a:blip r:embed="rId4"/>
                <a:stretch>
                  <a:fillRect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0CB5EB-6CAB-4563-B9E3-B057097FC6E7}"/>
                  </a:ext>
                </a:extLst>
              </p:cNvPr>
              <p:cNvSpPr/>
              <p:nvPr/>
            </p:nvSpPr>
            <p:spPr>
              <a:xfrm>
                <a:off x="5692567" y="1963748"/>
                <a:ext cx="3067051" cy="18799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=−2,</m:t>
                    </m:r>
                  </m:oMath>
                </a14:m>
                <a:r>
                  <a:rPr lang="id-ID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didapat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sPre>
                      <m:r>
                        <a:rPr lang="id-ID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0CB5EB-6CAB-4563-B9E3-B057097FC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567" y="1963748"/>
                <a:ext cx="3067051" cy="1879938"/>
              </a:xfrm>
              <a:prstGeom prst="rect">
                <a:avLst/>
              </a:prstGeom>
              <a:blipFill>
                <a:blip r:embed="rId5"/>
                <a:stretch>
                  <a:fillRect l="-2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5BF1B1-5B3B-4EE9-8131-54AF68AE4CC6}"/>
                  </a:ext>
                </a:extLst>
              </p:cNvPr>
              <p:cNvSpPr/>
              <p:nvPr/>
            </p:nvSpPr>
            <p:spPr>
              <a:xfrm>
                <a:off x="5692567" y="3427835"/>
                <a:ext cx="3724278" cy="1420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d-ID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Untuk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id-ID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didapat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id-ID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id-ID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id-ID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id-ID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d-ID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d-ID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sPre>
                      <m:r>
                        <a:rPr lang="id-ID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1⟺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id-ID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5BF1B1-5B3B-4EE9-8131-54AF68AE4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567" y="3427835"/>
                <a:ext cx="3724278" cy="1420261"/>
              </a:xfrm>
              <a:prstGeom prst="rect">
                <a:avLst/>
              </a:prstGeom>
              <a:blipFill>
                <a:blip r:embed="rId6"/>
                <a:stretch>
                  <a:fillRect l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337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FFFFF"/>
      </a:hlink>
      <a:folHlink>
        <a:srgbClr val="FFFFF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1402</TotalTime>
  <Words>2050</Words>
  <Application>Microsoft Office PowerPoint</Application>
  <PresentationFormat>On-screen Show (4:3)</PresentationFormat>
  <Paragraphs>289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Franklin Gothic Medium</vt:lpstr>
      <vt:lpstr>Open Sans</vt:lpstr>
      <vt:lpstr>Wingdings 2</vt:lpstr>
      <vt:lpstr>Trek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Rangkuman persamaan logaritma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Maheny</dc:creator>
  <cp:lastModifiedBy>Irawan Sutiawan</cp:lastModifiedBy>
  <cp:revision>138</cp:revision>
  <dcterms:created xsi:type="dcterms:W3CDTF">2011-01-03T05:11:33Z</dcterms:created>
  <dcterms:modified xsi:type="dcterms:W3CDTF">2020-10-22T04:26:26Z</dcterms:modified>
</cp:coreProperties>
</file>